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547" r:id="rId3"/>
  </p:sldIdLst>
  <p:sldSz cx="144002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D5DC"/>
    <a:srgbClr val="00DEC3"/>
    <a:srgbClr val="1D4999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0" autoAdjust="0"/>
    <p:restoredTop sz="94660"/>
  </p:normalViewPr>
  <p:slideViewPr>
    <p:cSldViewPr snapToGrid="0">
      <p:cViewPr>
        <p:scale>
          <a:sx n="56" d="100"/>
          <a:sy n="56" d="100"/>
        </p:scale>
        <p:origin x="35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237197"/>
            <a:ext cx="10800160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970580"/>
            <a:ext cx="108001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90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95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884670"/>
            <a:ext cx="12420184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5059034"/>
            <a:ext cx="12420184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6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012414"/>
            <a:ext cx="612009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012414"/>
            <a:ext cx="612009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27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02483"/>
            <a:ext cx="12420184" cy="1461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853171"/>
            <a:ext cx="609196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761381"/>
            <a:ext cx="6091965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853171"/>
            <a:ext cx="6121966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761381"/>
            <a:ext cx="6121966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50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79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48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03978"/>
            <a:ext cx="4644443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088454"/>
            <a:ext cx="7290108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267902"/>
            <a:ext cx="4644443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74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03978"/>
            <a:ext cx="4644443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088454"/>
            <a:ext cx="7290108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267902"/>
            <a:ext cx="4644443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44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86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02483"/>
            <a:ext cx="3105046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02483"/>
            <a:ext cx="9135135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45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78B4B-8B58-E813-961C-064BC40AF8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4963816-3C9D-6054-6D89-CCC3057C1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2458" y="6933009"/>
            <a:ext cx="324004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318C5-3473-9969-88C2-50B0064238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7707" y="3362540"/>
            <a:ext cx="7953516" cy="926198"/>
          </a:xfrm>
        </p:spPr>
        <p:txBody>
          <a:bodyPr wrap="square" lIns="0" anchor="b" anchorCtr="0">
            <a:spAutoFit/>
          </a:bodyPr>
          <a:lstStyle>
            <a:lvl1pPr algn="l">
              <a:defRPr sz="5952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36C7969-22B7-9E94-E270-5F3C7A19AA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7707" y="4314565"/>
            <a:ext cx="7953514" cy="519694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086" b="0" i="0" cap="none" spc="0" baseline="0">
                <a:solidFill>
                  <a:schemeClr val="tx1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US" dirty="0"/>
              <a:t>Enter subtitle</a:t>
            </a:r>
          </a:p>
        </p:txBody>
      </p:sp>
    </p:spTree>
    <p:extLst>
      <p:ext uri="{BB962C8B-B14F-4D97-AF65-F5344CB8AC3E}">
        <p14:creationId xmlns:p14="http://schemas.microsoft.com/office/powerpoint/2010/main" val="349319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colorTemperature colorTemp="7181"/>
                    </a14:imgEffect>
                    <a14:imgEffect>
                      <a14:saturation sat="27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02483"/>
            <a:ext cx="12420184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012414"/>
            <a:ext cx="12420184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7006699"/>
            <a:ext cx="324004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D6F6F-705D-4653-B473-1C7CDD16632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7006699"/>
            <a:ext cx="486007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7006699"/>
            <a:ext cx="324004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85EB2-E57E-4095-B035-1BF35B3FF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55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svg"/><Relationship Id="rId18" Type="http://schemas.openxmlformats.org/officeDocument/2006/relationships/image" Target="../media/image17.png"/><Relationship Id="rId26" Type="http://schemas.openxmlformats.org/officeDocument/2006/relationships/image" Target="../media/image24.svg"/><Relationship Id="rId3" Type="http://schemas.openxmlformats.org/officeDocument/2006/relationships/image" Target="../media/image3.png"/><Relationship Id="rId21" Type="http://schemas.openxmlformats.org/officeDocument/2006/relationships/image" Target="../media/image19.svg"/><Relationship Id="rId34" Type="http://schemas.openxmlformats.org/officeDocument/2006/relationships/image" Target="../media/image32.sv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microsoft.com/office/2007/relationships/hdphoto" Target="../media/hdphoto2.wdp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24" Type="http://schemas.openxmlformats.org/officeDocument/2006/relationships/image" Target="../media/image22.svg"/><Relationship Id="rId32" Type="http://schemas.openxmlformats.org/officeDocument/2006/relationships/image" Target="../media/image30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10.png"/><Relationship Id="rId19" Type="http://schemas.microsoft.com/office/2007/relationships/hdphoto" Target="../media/hdphoto3.wdp"/><Relationship Id="rId31" Type="http://schemas.openxmlformats.org/officeDocument/2006/relationships/image" Target="../media/image29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6">
            <a:extLst>
              <a:ext uri="{FF2B5EF4-FFF2-40B4-BE49-F238E27FC236}">
                <a16:creationId xmlns:a16="http://schemas.microsoft.com/office/drawing/2014/main" id="{B3C80204-3354-06E1-9BDE-163587401D18}"/>
              </a:ext>
            </a:extLst>
          </p:cNvPr>
          <p:cNvSpPr/>
          <p:nvPr/>
        </p:nvSpPr>
        <p:spPr>
          <a:xfrm>
            <a:off x="315724" y="212271"/>
            <a:ext cx="13767685" cy="7143750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126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416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38463D4-5FBF-D782-A63F-52FDBA5FC084}"/>
              </a:ext>
            </a:extLst>
          </p:cNvPr>
          <p:cNvSpPr/>
          <p:nvPr/>
        </p:nvSpPr>
        <p:spPr>
          <a:xfrm>
            <a:off x="2526511" y="5670360"/>
            <a:ext cx="2413154" cy="1640916"/>
          </a:xfrm>
          <a:prstGeom prst="roundRect">
            <a:avLst>
              <a:gd name="adj" fmla="val 801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351936-8D8C-2757-E5D5-7E69F6EDE15B}"/>
              </a:ext>
            </a:extLst>
          </p:cNvPr>
          <p:cNvSpPr/>
          <p:nvPr/>
        </p:nvSpPr>
        <p:spPr>
          <a:xfrm>
            <a:off x="228600" y="134457"/>
            <a:ext cx="726622" cy="7238932"/>
          </a:xfrm>
          <a:prstGeom prst="roundRect">
            <a:avLst>
              <a:gd name="adj" fmla="val 2060"/>
            </a:avLst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9879F3-A51A-82EA-73CF-0120F7440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24" y="778031"/>
            <a:ext cx="465362" cy="4653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FC87CE-8746-8AC2-090B-B065B52E959F}"/>
              </a:ext>
            </a:extLst>
          </p:cNvPr>
          <p:cNvSpPr txBox="1"/>
          <p:nvPr/>
        </p:nvSpPr>
        <p:spPr>
          <a:xfrm>
            <a:off x="372168" y="1188119"/>
            <a:ext cx="42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DST</a:t>
            </a:r>
            <a:endParaRPr lang="en-IN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C545AB-F85C-67E0-7DEC-8BB8BD52A5D3}"/>
              </a:ext>
            </a:extLst>
          </p:cNvPr>
          <p:cNvSpPr/>
          <p:nvPr/>
        </p:nvSpPr>
        <p:spPr>
          <a:xfrm>
            <a:off x="1407748" y="3487565"/>
            <a:ext cx="726621" cy="811665"/>
          </a:xfrm>
          <a:prstGeom prst="roundRect">
            <a:avLst>
              <a:gd name="adj" fmla="val 6744"/>
            </a:avLst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357A59-9BCB-81AA-645C-E25A2F0E3933}"/>
              </a:ext>
            </a:extLst>
          </p:cNvPr>
          <p:cNvSpPr txBox="1"/>
          <p:nvPr/>
        </p:nvSpPr>
        <p:spPr>
          <a:xfrm>
            <a:off x="240692" y="2102608"/>
            <a:ext cx="702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Sales </a:t>
            </a:r>
          </a:p>
          <a:p>
            <a:pPr algn="ctr"/>
            <a:r>
              <a:rPr lang="en-IN" sz="1200" dirty="0"/>
              <a:t>Connect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52E68E3-1656-E6B5-E3F7-0D5B617DB5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9411" y="2910701"/>
            <a:ext cx="465362" cy="46536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A31CBF8-9960-9CBC-BC6C-5842B3702AB4}"/>
              </a:ext>
            </a:extLst>
          </p:cNvPr>
          <p:cNvSpPr txBox="1"/>
          <p:nvPr/>
        </p:nvSpPr>
        <p:spPr>
          <a:xfrm>
            <a:off x="220404" y="3366903"/>
            <a:ext cx="790601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Broadridge</a:t>
            </a:r>
          </a:p>
          <a:p>
            <a:endParaRPr lang="en-IN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2B6B3CC-3F51-ADFA-4F7F-727EFB7750C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9411" y="4008695"/>
            <a:ext cx="465362" cy="46536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E79D438-C3C8-232F-C112-C69F358DE877}"/>
              </a:ext>
            </a:extLst>
          </p:cNvPr>
          <p:cNvSpPr txBox="1"/>
          <p:nvPr/>
        </p:nvSpPr>
        <p:spPr>
          <a:xfrm>
            <a:off x="340727" y="4500149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RPO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55C7D46-D779-96A3-E330-A7D5E8334BA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6883" y="5111320"/>
            <a:ext cx="465362" cy="46536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6265562-60E7-BCF3-F2A3-A812A5D51FC3}"/>
              </a:ext>
            </a:extLst>
          </p:cNvPr>
          <p:cNvSpPr txBox="1"/>
          <p:nvPr/>
        </p:nvSpPr>
        <p:spPr>
          <a:xfrm>
            <a:off x="390493" y="5588399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IPS</a:t>
            </a:r>
            <a:endParaRPr lang="en-IN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1368CAA-CEB6-6885-88DC-CCC8D71ED67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6883" y="6195933"/>
            <a:ext cx="465362" cy="46536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BC4DDFF-DD31-E3B5-86B0-EC98277ADDCC}"/>
              </a:ext>
            </a:extLst>
          </p:cNvPr>
          <p:cNvSpPr txBox="1"/>
          <p:nvPr/>
        </p:nvSpPr>
        <p:spPr>
          <a:xfrm>
            <a:off x="282934" y="6653275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DORIS</a:t>
            </a:r>
            <a:endParaRPr lang="en-IN" sz="1200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70DBD9F-04A3-1DF1-ED05-E152A582641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48386" y="1010712"/>
            <a:ext cx="1194745" cy="2522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A933501-AF11-E63E-3AFE-C7F21C78AA7F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835405" y="1899247"/>
            <a:ext cx="756631" cy="1615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B6F04F45-E707-E685-BE8F-4B5C83CD36CA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842245" y="4259152"/>
            <a:ext cx="1162211" cy="21694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230FD2F-6542-175B-3793-AC2357B511B0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842245" y="4317006"/>
            <a:ext cx="726622" cy="10269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AAAB15C7-E36A-FB46-1881-53ACDBDCB0BA}"/>
              </a:ext>
            </a:extLst>
          </p:cNvPr>
          <p:cNvCxnSpPr>
            <a:stCxn id="24" idx="3"/>
          </p:cNvCxnSpPr>
          <p:nvPr/>
        </p:nvCxnSpPr>
        <p:spPr>
          <a:xfrm>
            <a:off x="834773" y="3143382"/>
            <a:ext cx="613645" cy="5956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0B0183BF-ACFE-D053-98C0-655785DF7E29}"/>
              </a:ext>
            </a:extLst>
          </p:cNvPr>
          <p:cNvCxnSpPr>
            <a:stCxn id="27" idx="3"/>
            <a:endCxn id="15" idx="1"/>
          </p:cNvCxnSpPr>
          <p:nvPr/>
        </p:nvCxnSpPr>
        <p:spPr>
          <a:xfrm flipV="1">
            <a:off x="834773" y="3893398"/>
            <a:ext cx="572975" cy="3479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40C99F2A-9159-DCBC-4544-A8B0BB3D44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0043" y="1666566"/>
            <a:ext cx="465362" cy="46536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E3E6616-A4E8-ABDD-FA6B-BF34E5BC3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662" y="3648768"/>
            <a:ext cx="421862" cy="42186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40DFA65-5E20-89B2-012E-868176862017}"/>
              </a:ext>
            </a:extLst>
          </p:cNvPr>
          <p:cNvSpPr txBox="1"/>
          <p:nvPr/>
        </p:nvSpPr>
        <p:spPr>
          <a:xfrm>
            <a:off x="1537662" y="4026662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M</a:t>
            </a:r>
            <a:r>
              <a:rPr lang="en-IN" sz="1200" b="1" dirty="0"/>
              <a:t>FT</a:t>
            </a:r>
          </a:p>
        </p:txBody>
      </p:sp>
      <p:sp>
        <p:nvSpPr>
          <p:cNvPr id="37893" name="Rectangle 37892">
            <a:extLst>
              <a:ext uri="{FF2B5EF4-FFF2-40B4-BE49-F238E27FC236}">
                <a16:creationId xmlns:a16="http://schemas.microsoft.com/office/drawing/2014/main" id="{F4B9E4CD-864A-0677-EE11-F18C213723AB}"/>
              </a:ext>
            </a:extLst>
          </p:cNvPr>
          <p:cNvSpPr/>
          <p:nvPr/>
        </p:nvSpPr>
        <p:spPr>
          <a:xfrm>
            <a:off x="2401201" y="134457"/>
            <a:ext cx="2623493" cy="7238932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chemeClr val="tx1"/>
                </a:solidFill>
                <a:cs typeface="Arial" panose="020B0604020202020204" pitchFamily="34" charset="0"/>
              </a:rPr>
              <a:t>CASPIAN DATALAKE</a:t>
            </a:r>
          </a:p>
        </p:txBody>
      </p:sp>
      <p:cxnSp>
        <p:nvCxnSpPr>
          <p:cNvPr id="37899" name="Straight Arrow Connector 37898">
            <a:extLst>
              <a:ext uri="{FF2B5EF4-FFF2-40B4-BE49-F238E27FC236}">
                <a16:creationId xmlns:a16="http://schemas.microsoft.com/office/drawing/2014/main" id="{D45D119B-0B36-5CA5-C91E-23C2CC71A787}"/>
              </a:ext>
            </a:extLst>
          </p:cNvPr>
          <p:cNvCxnSpPr>
            <a:stCxn id="15" idx="3"/>
          </p:cNvCxnSpPr>
          <p:nvPr/>
        </p:nvCxnSpPr>
        <p:spPr>
          <a:xfrm flipV="1">
            <a:off x="2134369" y="3893397"/>
            <a:ext cx="288000" cy="1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907" name="Rectangle 37906">
            <a:extLst>
              <a:ext uri="{FF2B5EF4-FFF2-40B4-BE49-F238E27FC236}">
                <a16:creationId xmlns:a16="http://schemas.microsoft.com/office/drawing/2014/main" id="{B7C3CD4B-1EE9-8856-087B-8E098B7C66E7}"/>
              </a:ext>
            </a:extLst>
          </p:cNvPr>
          <p:cNvSpPr/>
          <p:nvPr/>
        </p:nvSpPr>
        <p:spPr>
          <a:xfrm>
            <a:off x="2516319" y="666218"/>
            <a:ext cx="2413154" cy="4917948"/>
          </a:xfrm>
          <a:prstGeom prst="rect">
            <a:avLst/>
          </a:prstGeom>
          <a:gradFill>
            <a:gsLst>
              <a:gs pos="4000">
                <a:schemeClr val="bg1"/>
              </a:gs>
              <a:gs pos="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  <a:ln w="15875">
            <a:solidFill>
              <a:srgbClr val="7AA11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pic>
        <p:nvPicPr>
          <p:cNvPr id="37910" name="Picture 37909">
            <a:extLst>
              <a:ext uri="{FF2B5EF4-FFF2-40B4-BE49-F238E27FC236}">
                <a16:creationId xmlns:a16="http://schemas.microsoft.com/office/drawing/2014/main" id="{08E9EEA5-5C2D-8D5C-5EFE-9CE6CDC794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483" y="778031"/>
            <a:ext cx="400432" cy="400432"/>
          </a:xfrm>
          <a:prstGeom prst="rect">
            <a:avLst/>
          </a:prstGeom>
        </p:spPr>
      </p:pic>
      <p:pic>
        <p:nvPicPr>
          <p:cNvPr id="37912" name="Graphic 8" descr="Amazon Simple Storage Service (Amazon S3) service icon.">
            <a:extLst>
              <a:ext uri="{FF2B5EF4-FFF2-40B4-BE49-F238E27FC236}">
                <a16:creationId xmlns:a16="http://schemas.microsoft.com/office/drawing/2014/main" id="{47B34159-06C4-3698-4AF8-EC3BAEAD8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3468216" y="6653275"/>
            <a:ext cx="421396" cy="421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4" name="lambda" descr="Lambda service icon.">
            <a:extLst>
              <a:ext uri="{FF2B5EF4-FFF2-40B4-BE49-F238E27FC236}">
                <a16:creationId xmlns:a16="http://schemas.microsoft.com/office/drawing/2014/main" id="{79586ECA-73F5-47D1-2EF6-E367AD1FF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5989074" y="826770"/>
            <a:ext cx="466179" cy="466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20" name="Picture 37919">
            <a:extLst>
              <a:ext uri="{FF2B5EF4-FFF2-40B4-BE49-F238E27FC236}">
                <a16:creationId xmlns:a16="http://schemas.microsoft.com/office/drawing/2014/main" id="{8B890DE9-2AC5-95FC-47D0-5D284FFE683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95650" y="1368078"/>
            <a:ext cx="366076" cy="366076"/>
          </a:xfrm>
          <a:prstGeom prst="rect">
            <a:avLst/>
          </a:prstGeom>
        </p:spPr>
      </p:pic>
      <p:sp>
        <p:nvSpPr>
          <p:cNvPr id="37921" name="TextBox 37920">
            <a:extLst>
              <a:ext uri="{FF2B5EF4-FFF2-40B4-BE49-F238E27FC236}">
                <a16:creationId xmlns:a16="http://schemas.microsoft.com/office/drawing/2014/main" id="{3739671B-C630-C1BE-570B-6561CB857649}"/>
              </a:ext>
            </a:extLst>
          </p:cNvPr>
          <p:cNvSpPr txBox="1"/>
          <p:nvPr/>
        </p:nvSpPr>
        <p:spPr>
          <a:xfrm>
            <a:off x="2566311" y="1794534"/>
            <a:ext cx="983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File Selector </a:t>
            </a:r>
          </a:p>
          <a:p>
            <a:pPr algn="ctr"/>
            <a:endParaRPr lang="en-IN" sz="1200" dirty="0"/>
          </a:p>
        </p:txBody>
      </p:sp>
      <p:sp>
        <p:nvSpPr>
          <p:cNvPr id="37927" name="TextBox 37926">
            <a:extLst>
              <a:ext uri="{FF2B5EF4-FFF2-40B4-BE49-F238E27FC236}">
                <a16:creationId xmlns:a16="http://schemas.microsoft.com/office/drawing/2014/main" id="{5D2E172B-6DDA-F7EF-8287-4FF60D52906D}"/>
              </a:ext>
            </a:extLst>
          </p:cNvPr>
          <p:cNvSpPr txBox="1"/>
          <p:nvPr/>
        </p:nvSpPr>
        <p:spPr>
          <a:xfrm>
            <a:off x="3878238" y="1755947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S3 Sensor</a:t>
            </a:r>
          </a:p>
        </p:txBody>
      </p:sp>
      <p:sp>
        <p:nvSpPr>
          <p:cNvPr id="37928" name="TextBox 37927">
            <a:extLst>
              <a:ext uri="{FF2B5EF4-FFF2-40B4-BE49-F238E27FC236}">
                <a16:creationId xmlns:a16="http://schemas.microsoft.com/office/drawing/2014/main" id="{398DF5A7-DCF9-0817-A811-C85B829FC0E8}"/>
              </a:ext>
            </a:extLst>
          </p:cNvPr>
          <p:cNvSpPr txBox="1"/>
          <p:nvPr/>
        </p:nvSpPr>
        <p:spPr>
          <a:xfrm>
            <a:off x="2785507" y="2746308"/>
            <a:ext cx="670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Landing</a:t>
            </a:r>
          </a:p>
          <a:p>
            <a:pPr algn="ctr"/>
            <a:r>
              <a:rPr lang="en-IN" sz="1200" dirty="0"/>
              <a:t> -&gt; Raw</a:t>
            </a:r>
          </a:p>
        </p:txBody>
      </p:sp>
      <p:pic>
        <p:nvPicPr>
          <p:cNvPr id="37934" name="Graphic 37933" descr="IoT thing generic resource icon for the Internet of Things category.">
            <a:extLst>
              <a:ext uri="{FF2B5EF4-FFF2-40B4-BE49-F238E27FC236}">
                <a16:creationId xmlns:a16="http://schemas.microsoft.com/office/drawing/2014/main" id="{BDA2FE7E-0A05-661D-3A1D-14F7F97AB2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14702" y="1363663"/>
            <a:ext cx="457200" cy="350027"/>
          </a:xfrm>
          <a:prstGeom prst="rect">
            <a:avLst/>
          </a:prstGeom>
        </p:spPr>
      </p:pic>
      <p:pic>
        <p:nvPicPr>
          <p:cNvPr id="37935" name="Graphic 37934" descr="Auto-copy resource icon for the Amazon Redshift service.">
            <a:extLst>
              <a:ext uri="{FF2B5EF4-FFF2-40B4-BE49-F238E27FC236}">
                <a16:creationId xmlns:a16="http://schemas.microsoft.com/office/drawing/2014/main" id="{8FAD2F2F-4CD4-D8B8-167C-81861C386D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46664" y="2258296"/>
            <a:ext cx="457200" cy="457200"/>
          </a:xfrm>
          <a:prstGeom prst="rect">
            <a:avLst/>
          </a:prstGeom>
        </p:spPr>
      </p:pic>
      <p:sp>
        <p:nvSpPr>
          <p:cNvPr id="37936" name="TextBox 37935">
            <a:extLst>
              <a:ext uri="{FF2B5EF4-FFF2-40B4-BE49-F238E27FC236}">
                <a16:creationId xmlns:a16="http://schemas.microsoft.com/office/drawing/2014/main" id="{80E20D52-3D5E-D6B2-6FB3-B94F38B51600}"/>
              </a:ext>
            </a:extLst>
          </p:cNvPr>
          <p:cNvSpPr txBox="1"/>
          <p:nvPr/>
        </p:nvSpPr>
        <p:spPr>
          <a:xfrm>
            <a:off x="3830417" y="2739681"/>
            <a:ext cx="902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Raw </a:t>
            </a:r>
          </a:p>
          <a:p>
            <a:pPr algn="ctr"/>
            <a:r>
              <a:rPr lang="en-IN" sz="1200" dirty="0"/>
              <a:t>-&gt; Standard</a:t>
            </a:r>
          </a:p>
        </p:txBody>
      </p:sp>
      <p:pic>
        <p:nvPicPr>
          <p:cNvPr id="37937" name="Graphic 37936" descr="Auto-copy resource icon for the Amazon Redshift service.">
            <a:extLst>
              <a:ext uri="{FF2B5EF4-FFF2-40B4-BE49-F238E27FC236}">
                <a16:creationId xmlns:a16="http://schemas.microsoft.com/office/drawing/2014/main" id="{FEFE9418-2C73-144B-F1DC-4C2910509A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14702" y="2288609"/>
            <a:ext cx="457200" cy="457200"/>
          </a:xfrm>
          <a:prstGeom prst="rect">
            <a:avLst/>
          </a:prstGeom>
        </p:spPr>
      </p:pic>
      <p:pic>
        <p:nvPicPr>
          <p:cNvPr id="37939" name="Picture 37938">
            <a:extLst>
              <a:ext uri="{FF2B5EF4-FFF2-40B4-BE49-F238E27FC236}">
                <a16:creationId xmlns:a16="http://schemas.microsoft.com/office/drawing/2014/main" id="{41EDB14E-D519-C35A-5E55-BB30FF31F6EF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770578" y="3368305"/>
            <a:ext cx="496479" cy="492291"/>
          </a:xfrm>
          <a:prstGeom prst="rect">
            <a:avLst/>
          </a:prstGeom>
        </p:spPr>
      </p:pic>
      <p:sp>
        <p:nvSpPr>
          <p:cNvPr id="37940" name="TextBox 37939">
            <a:extLst>
              <a:ext uri="{FF2B5EF4-FFF2-40B4-BE49-F238E27FC236}">
                <a16:creationId xmlns:a16="http://schemas.microsoft.com/office/drawing/2014/main" id="{A9E4AFD7-EB40-EFA3-B74E-D9BDD07BF177}"/>
              </a:ext>
            </a:extLst>
          </p:cNvPr>
          <p:cNvSpPr txBox="1"/>
          <p:nvPr/>
        </p:nvSpPr>
        <p:spPr>
          <a:xfrm>
            <a:off x="2692767" y="3854317"/>
            <a:ext cx="778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Standard </a:t>
            </a:r>
          </a:p>
          <a:p>
            <a:pPr algn="ctr"/>
            <a:r>
              <a:rPr lang="en-IN" sz="1200" dirty="0"/>
              <a:t>Tag Files</a:t>
            </a:r>
          </a:p>
        </p:txBody>
      </p:sp>
      <p:pic>
        <p:nvPicPr>
          <p:cNvPr id="37942" name="Picture 37941">
            <a:extLst>
              <a:ext uri="{FF2B5EF4-FFF2-40B4-BE49-F238E27FC236}">
                <a16:creationId xmlns:a16="http://schemas.microsoft.com/office/drawing/2014/main" id="{359BEB42-F1A4-970C-7948-6F56FC4DFCAB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flipH="1">
            <a:off x="4044219" y="3366462"/>
            <a:ext cx="515706" cy="511356"/>
          </a:xfrm>
          <a:prstGeom prst="rect">
            <a:avLst/>
          </a:prstGeom>
        </p:spPr>
      </p:pic>
      <p:sp>
        <p:nvSpPr>
          <p:cNvPr id="37943" name="TextBox 37942">
            <a:extLst>
              <a:ext uri="{FF2B5EF4-FFF2-40B4-BE49-F238E27FC236}">
                <a16:creationId xmlns:a16="http://schemas.microsoft.com/office/drawing/2014/main" id="{A9226B72-F847-9A1D-4D77-4CAA7B2C0B88}"/>
              </a:ext>
            </a:extLst>
          </p:cNvPr>
          <p:cNvSpPr txBox="1"/>
          <p:nvPr/>
        </p:nvSpPr>
        <p:spPr>
          <a:xfrm>
            <a:off x="3982880" y="3903035"/>
            <a:ext cx="752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Dataset </a:t>
            </a:r>
          </a:p>
          <a:p>
            <a:pPr algn="ctr"/>
            <a:r>
              <a:rPr lang="en-IN" sz="1200" dirty="0"/>
              <a:t>Producer</a:t>
            </a:r>
          </a:p>
        </p:txBody>
      </p:sp>
      <p:pic>
        <p:nvPicPr>
          <p:cNvPr id="37945" name="Picture 37944">
            <a:extLst>
              <a:ext uri="{FF2B5EF4-FFF2-40B4-BE49-F238E27FC236}">
                <a16:creationId xmlns:a16="http://schemas.microsoft.com/office/drawing/2014/main" id="{F4B9DB18-70B4-53F9-8F09-052822E6BF2A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83341" y="4455075"/>
            <a:ext cx="534849" cy="534849"/>
          </a:xfrm>
          <a:prstGeom prst="rect">
            <a:avLst/>
          </a:prstGeom>
        </p:spPr>
      </p:pic>
      <p:sp>
        <p:nvSpPr>
          <p:cNvPr id="37946" name="TextBox 37945">
            <a:extLst>
              <a:ext uri="{FF2B5EF4-FFF2-40B4-BE49-F238E27FC236}">
                <a16:creationId xmlns:a16="http://schemas.microsoft.com/office/drawing/2014/main" id="{0B23F0F9-5676-B121-1824-2AC14872B3E0}"/>
              </a:ext>
            </a:extLst>
          </p:cNvPr>
          <p:cNvSpPr txBox="1"/>
          <p:nvPr/>
        </p:nvSpPr>
        <p:spPr>
          <a:xfrm>
            <a:off x="2692767" y="5019954"/>
            <a:ext cx="878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/>
              <a:t>Replication</a:t>
            </a:r>
          </a:p>
        </p:txBody>
      </p:sp>
      <p:pic>
        <p:nvPicPr>
          <p:cNvPr id="37948" name="Picture 37947">
            <a:extLst>
              <a:ext uri="{FF2B5EF4-FFF2-40B4-BE49-F238E27FC236}">
                <a16:creationId xmlns:a16="http://schemas.microsoft.com/office/drawing/2014/main" id="{D50128E7-725E-3D90-EBFF-FF0DCF8A2B84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61428" y="4526754"/>
            <a:ext cx="416462" cy="416462"/>
          </a:xfrm>
          <a:prstGeom prst="rect">
            <a:avLst/>
          </a:prstGeom>
        </p:spPr>
      </p:pic>
      <p:sp>
        <p:nvSpPr>
          <p:cNvPr id="37950" name="TextBox 37949">
            <a:extLst>
              <a:ext uri="{FF2B5EF4-FFF2-40B4-BE49-F238E27FC236}">
                <a16:creationId xmlns:a16="http://schemas.microsoft.com/office/drawing/2014/main" id="{102692BF-3444-7658-2600-9B63A281941D}"/>
              </a:ext>
            </a:extLst>
          </p:cNvPr>
          <p:cNvSpPr txBox="1"/>
          <p:nvPr/>
        </p:nvSpPr>
        <p:spPr>
          <a:xfrm>
            <a:off x="3811962" y="5011934"/>
            <a:ext cx="919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Notification</a:t>
            </a:r>
            <a:endParaRPr lang="en-IN" sz="1200" dirty="0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4310F3ED-F9F5-9560-61B3-141341E64C81}"/>
              </a:ext>
            </a:extLst>
          </p:cNvPr>
          <p:cNvSpPr txBox="1"/>
          <p:nvPr/>
        </p:nvSpPr>
        <p:spPr>
          <a:xfrm>
            <a:off x="2905808" y="784230"/>
            <a:ext cx="167308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latin typeface="Arial Rounded MT Bold" panose="020F0704030504030204" pitchFamily="34" charset="0"/>
              </a:rPr>
              <a:t>Caspian Airflow</a:t>
            </a:r>
            <a:endParaRPr lang="en-IN" sz="1300" b="1" dirty="0">
              <a:latin typeface="Arial Rounded MT Bold" panose="020F0704030504030204" pitchFamily="34" charset="0"/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7EF8CC7-D0D0-03EB-0725-09812DC8B1A3}"/>
              </a:ext>
            </a:extLst>
          </p:cNvPr>
          <p:cNvSpPr txBox="1"/>
          <p:nvPr/>
        </p:nvSpPr>
        <p:spPr>
          <a:xfrm>
            <a:off x="3316969" y="7068641"/>
            <a:ext cx="72725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300" b="1" dirty="0"/>
              <a:t>Curated</a:t>
            </a:r>
          </a:p>
        </p:txBody>
      </p:sp>
      <p:pic>
        <p:nvPicPr>
          <p:cNvPr id="1036" name="Graphic 8" descr="Amazon Simple Storage Service (Amazon S3) service icon.">
            <a:extLst>
              <a:ext uri="{FF2B5EF4-FFF2-40B4-BE49-F238E27FC236}">
                <a16:creationId xmlns:a16="http://schemas.microsoft.com/office/drawing/2014/main" id="{476B7C9E-17FB-4233-8E1D-7BD39052F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2622397" y="5774980"/>
            <a:ext cx="450168" cy="45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2" name="Graphic 1041" descr="AWS IoT Greengrass group icon.">
            <a:extLst>
              <a:ext uri="{FF2B5EF4-FFF2-40B4-BE49-F238E27FC236}">
                <a16:creationId xmlns:a16="http://schemas.microsoft.com/office/drawing/2014/main" id="{12382EE1-7DA0-BFDC-05CE-76762C9A864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2396787" y="139108"/>
            <a:ext cx="381000" cy="381000"/>
          </a:xfrm>
          <a:prstGeom prst="rect">
            <a:avLst/>
          </a:prstGeom>
        </p:spPr>
      </p:pic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99F52CCF-9E71-4E55-8CCB-5BF54B58A104}"/>
              </a:ext>
            </a:extLst>
          </p:cNvPr>
          <p:cNvCxnSpPr>
            <a:cxnSpLocks/>
          </p:cNvCxnSpPr>
          <p:nvPr/>
        </p:nvCxnSpPr>
        <p:spPr>
          <a:xfrm>
            <a:off x="2516319" y="1243393"/>
            <a:ext cx="2413154" cy="0"/>
          </a:xfrm>
          <a:prstGeom prst="line">
            <a:avLst/>
          </a:prstGeom>
          <a:ln w="635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49" name="TextBox 1048">
            <a:extLst>
              <a:ext uri="{FF2B5EF4-FFF2-40B4-BE49-F238E27FC236}">
                <a16:creationId xmlns:a16="http://schemas.microsoft.com/office/drawing/2014/main" id="{D90D8414-6F19-ECDD-7895-9FCD775B04AB}"/>
              </a:ext>
            </a:extLst>
          </p:cNvPr>
          <p:cNvSpPr txBox="1"/>
          <p:nvPr/>
        </p:nvSpPr>
        <p:spPr>
          <a:xfrm>
            <a:off x="2469531" y="6273990"/>
            <a:ext cx="726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/>
              <a:t>Landing</a:t>
            </a:r>
            <a:endParaRPr lang="en-IN" sz="1300" b="1" dirty="0"/>
          </a:p>
        </p:txBody>
      </p:sp>
      <p:pic>
        <p:nvPicPr>
          <p:cNvPr id="1050" name="Graphic 8" descr="Amazon Simple Storage Service (Amazon S3) service icon.">
            <a:extLst>
              <a:ext uri="{FF2B5EF4-FFF2-40B4-BE49-F238E27FC236}">
                <a16:creationId xmlns:a16="http://schemas.microsoft.com/office/drawing/2014/main" id="{694FDD17-6D50-0571-DFAC-BDCA971AD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2614371" y="6603694"/>
            <a:ext cx="450168" cy="45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1" name="TextBox 1050">
            <a:extLst>
              <a:ext uri="{FF2B5EF4-FFF2-40B4-BE49-F238E27FC236}">
                <a16:creationId xmlns:a16="http://schemas.microsoft.com/office/drawing/2014/main" id="{55DE990D-1376-2095-11EB-F8C6AF01F918}"/>
              </a:ext>
            </a:extLst>
          </p:cNvPr>
          <p:cNvSpPr txBox="1"/>
          <p:nvPr/>
        </p:nvSpPr>
        <p:spPr>
          <a:xfrm>
            <a:off x="2610081" y="7049945"/>
            <a:ext cx="48314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/>
              <a:t>Raw</a:t>
            </a:r>
            <a:endParaRPr lang="en-IN" sz="1300" b="1" dirty="0"/>
          </a:p>
        </p:txBody>
      </p:sp>
      <p:pic>
        <p:nvPicPr>
          <p:cNvPr id="1052" name="Graphic 8" descr="Amazon Simple Storage Service (Amazon S3) service icon.">
            <a:extLst>
              <a:ext uri="{FF2B5EF4-FFF2-40B4-BE49-F238E27FC236}">
                <a16:creationId xmlns:a16="http://schemas.microsoft.com/office/drawing/2014/main" id="{9EE4F5FE-95F8-CD7F-F026-A805BA5BE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3460363" y="5768236"/>
            <a:ext cx="450168" cy="45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3" name="TextBox 1052">
            <a:extLst>
              <a:ext uri="{FF2B5EF4-FFF2-40B4-BE49-F238E27FC236}">
                <a16:creationId xmlns:a16="http://schemas.microsoft.com/office/drawing/2014/main" id="{82A27256-0146-9C9F-3B93-7C4EAA9698E2}"/>
              </a:ext>
            </a:extLst>
          </p:cNvPr>
          <p:cNvSpPr txBox="1"/>
          <p:nvPr/>
        </p:nvSpPr>
        <p:spPr>
          <a:xfrm>
            <a:off x="3321361" y="6270476"/>
            <a:ext cx="80938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300" b="1" dirty="0"/>
              <a:t>Standard</a:t>
            </a:r>
          </a:p>
        </p:txBody>
      </p:sp>
      <p:pic>
        <p:nvPicPr>
          <p:cNvPr id="1054" name="Picture 4">
            <a:extLst>
              <a:ext uri="{FF2B5EF4-FFF2-40B4-BE49-F238E27FC236}">
                <a16:creationId xmlns:a16="http://schemas.microsoft.com/office/drawing/2014/main" id="{FD4137B2-4F58-2D9C-40E4-00C27D944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439" y="826769"/>
            <a:ext cx="466180" cy="46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C993B0-CEE2-C8D9-D298-C326B2B0EC2C}"/>
              </a:ext>
            </a:extLst>
          </p:cNvPr>
          <p:cNvSpPr/>
          <p:nvPr/>
        </p:nvSpPr>
        <p:spPr bwMode="auto">
          <a:xfrm>
            <a:off x="5173855" y="134337"/>
            <a:ext cx="7210425" cy="7209399"/>
          </a:xfrm>
          <a:prstGeom prst="rect">
            <a:avLst/>
          </a:prstGeom>
          <a:noFill/>
          <a:ln w="15875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3627BC-0C19-0511-9E22-CF44F074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308805" y="647635"/>
            <a:ext cx="1281878" cy="1251612"/>
          </a:xfrm>
          <a:prstGeom prst="rect">
            <a:avLst/>
          </a:prstGeom>
          <a:noFill/>
          <a:ln w="15875">
            <a:solidFill>
              <a:srgbClr val="1D4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65E044-99DE-5812-D5B4-43510F0482BA}"/>
              </a:ext>
            </a:extLst>
          </p:cNvPr>
          <p:cNvGrpSpPr/>
          <p:nvPr/>
        </p:nvGrpSpPr>
        <p:grpSpPr>
          <a:xfrm>
            <a:off x="11991732" y="156965"/>
            <a:ext cx="358505" cy="338142"/>
            <a:chOff x="11265805" y="477195"/>
            <a:chExt cx="495205" cy="467077"/>
          </a:xfrm>
        </p:grpSpPr>
        <p:pic>
          <p:nvPicPr>
            <p:cNvPr id="9" name="Graphic 8" descr="VPC group icon.">
              <a:extLst>
                <a:ext uri="{FF2B5EF4-FFF2-40B4-BE49-F238E27FC236}">
                  <a16:creationId xmlns:a16="http://schemas.microsoft.com/office/drawing/2014/main" id="{C75088D3-8EDE-82A5-49A2-A723F22DA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>
            <a:xfrm>
              <a:off x="11265805" y="487072"/>
              <a:ext cx="495205" cy="457200"/>
            </a:xfrm>
            <a:prstGeom prst="rect">
              <a:avLst/>
            </a:prstGeom>
          </p:spPr>
        </p:pic>
        <p:pic>
          <p:nvPicPr>
            <p:cNvPr id="11" name="Graphic 10" descr="Virtual private cloud (VPC) resource icon for the Amazon VPC service.&#10;">
              <a:extLst>
                <a:ext uri="{FF2B5EF4-FFF2-40B4-BE49-F238E27FC236}">
                  <a16:creationId xmlns:a16="http://schemas.microsoft.com/office/drawing/2014/main" id="{07D23D6E-C3DB-D133-C8CE-15B435974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1265805" y="477195"/>
              <a:ext cx="457200" cy="4572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A2AB469-D0E3-EBAE-B215-291C193B0714}"/>
              </a:ext>
            </a:extLst>
          </p:cNvPr>
          <p:cNvSpPr txBox="1"/>
          <p:nvPr/>
        </p:nvSpPr>
        <p:spPr>
          <a:xfrm>
            <a:off x="11521881" y="191656"/>
            <a:ext cx="412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VPC</a:t>
            </a:r>
            <a:endParaRPr lang="en-IN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C4E944-D4B3-94B2-78E9-EE75D1558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014" y="134337"/>
            <a:ext cx="317721" cy="31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96AC269-ADD2-D428-56E3-52A76E965C84}"/>
              </a:ext>
            </a:extLst>
          </p:cNvPr>
          <p:cNvSpPr/>
          <p:nvPr/>
        </p:nvSpPr>
        <p:spPr>
          <a:xfrm>
            <a:off x="3848335" y="4500149"/>
            <a:ext cx="851463" cy="78878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16573CF-56DD-7250-4EB9-C53DD2F5AC56}"/>
              </a:ext>
            </a:extLst>
          </p:cNvPr>
          <p:cNvCxnSpPr>
            <a:stCxn id="16" idx="3"/>
          </p:cNvCxnSpPr>
          <p:nvPr/>
        </p:nvCxnSpPr>
        <p:spPr>
          <a:xfrm>
            <a:off x="4699798" y="4894541"/>
            <a:ext cx="7216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AA7F68-DF44-8C29-BBFA-762875A2CBDD}"/>
              </a:ext>
            </a:extLst>
          </p:cNvPr>
          <p:cNvCxnSpPr/>
          <p:nvPr/>
        </p:nvCxnSpPr>
        <p:spPr>
          <a:xfrm flipV="1">
            <a:off x="5421439" y="1894446"/>
            <a:ext cx="0" cy="3000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8445563-6497-5A2C-A7BA-E6BB8E80D851}"/>
              </a:ext>
            </a:extLst>
          </p:cNvPr>
          <p:cNvSpPr txBox="1"/>
          <p:nvPr/>
        </p:nvSpPr>
        <p:spPr>
          <a:xfrm>
            <a:off x="5429547" y="1387152"/>
            <a:ext cx="116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Kafka lambda Sync connector</a:t>
            </a:r>
            <a:endParaRPr lang="en-IN" sz="12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1874CA-E004-C1ED-7376-24BA13BB0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031605" y="686405"/>
            <a:ext cx="5265531" cy="1251612"/>
          </a:xfrm>
          <a:prstGeom prst="rect">
            <a:avLst/>
          </a:prstGeom>
          <a:solidFill>
            <a:schemeClr val="bg2"/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C57EDA-937A-77BB-77C9-F3E52617EA15}"/>
              </a:ext>
            </a:extLst>
          </p:cNvPr>
          <p:cNvCxnSpPr>
            <a:cxnSpLocks/>
          </p:cNvCxnSpPr>
          <p:nvPr/>
        </p:nvCxnSpPr>
        <p:spPr>
          <a:xfrm>
            <a:off x="4929473" y="5993320"/>
            <a:ext cx="773425" cy="67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363F22-2043-FB55-DC15-718E81177693}"/>
              </a:ext>
            </a:extLst>
          </p:cNvPr>
          <p:cNvCxnSpPr>
            <a:cxnSpLocks/>
          </p:cNvCxnSpPr>
          <p:nvPr/>
        </p:nvCxnSpPr>
        <p:spPr>
          <a:xfrm>
            <a:off x="5695910" y="2102608"/>
            <a:ext cx="6988" cy="3897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E0EA5CB-8575-7A03-A7F8-0CD0C7B279E4}"/>
              </a:ext>
            </a:extLst>
          </p:cNvPr>
          <p:cNvCxnSpPr>
            <a:cxnSpLocks/>
          </p:cNvCxnSpPr>
          <p:nvPr/>
        </p:nvCxnSpPr>
        <p:spPr>
          <a:xfrm>
            <a:off x="5702898" y="2102608"/>
            <a:ext cx="19962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78DFD69-63A4-83FA-37A2-9BF67C1B9133}"/>
              </a:ext>
            </a:extLst>
          </p:cNvPr>
          <p:cNvCxnSpPr>
            <a:cxnSpLocks/>
          </p:cNvCxnSpPr>
          <p:nvPr/>
        </p:nvCxnSpPr>
        <p:spPr>
          <a:xfrm flipV="1">
            <a:off x="7699160" y="1848817"/>
            <a:ext cx="0" cy="253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5" name="Graphic 54" descr="S3 on Outposts storage class icon for the Amazon S3 service.">
            <a:extLst>
              <a:ext uri="{FF2B5EF4-FFF2-40B4-BE49-F238E27FC236}">
                <a16:creationId xmlns:a16="http://schemas.microsoft.com/office/drawing/2014/main" id="{55361C06-181C-0B45-314B-6BA61B9CEA1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31325" y="6037739"/>
            <a:ext cx="457200" cy="457200"/>
          </a:xfrm>
          <a:prstGeom prst="rect">
            <a:avLst/>
          </a:prstGeom>
        </p:spPr>
      </p:pic>
      <p:sp>
        <p:nvSpPr>
          <p:cNvPr id="57" name="TextBox 59">
            <a:extLst>
              <a:ext uri="{FF2B5EF4-FFF2-40B4-BE49-F238E27FC236}">
                <a16:creationId xmlns:a16="http://schemas.microsoft.com/office/drawing/2014/main" id="{62DFC1CA-4A97-915F-AB8A-96984FBC4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893" y="6524903"/>
            <a:ext cx="10613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Out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Post</a:t>
            </a:r>
          </a:p>
        </p:txBody>
      </p:sp>
      <p:pic>
        <p:nvPicPr>
          <p:cNvPr id="60" name="Graphic 59" descr="Amazon S3 File Gateway resource icon for the AWS Storage Gateway service.">
            <a:extLst>
              <a:ext uri="{FF2B5EF4-FFF2-40B4-BE49-F238E27FC236}">
                <a16:creationId xmlns:a16="http://schemas.microsoft.com/office/drawing/2014/main" id="{80746A2E-A770-C442-26E8-D744F0C3693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181100" y="877324"/>
            <a:ext cx="457200" cy="457200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065BBCDD-CC55-FB35-8848-0923D43D8837}"/>
              </a:ext>
            </a:extLst>
          </p:cNvPr>
          <p:cNvSpPr txBox="1"/>
          <p:nvPr/>
        </p:nvSpPr>
        <p:spPr>
          <a:xfrm>
            <a:off x="7934743" y="1387151"/>
            <a:ext cx="1007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Read File </a:t>
            </a:r>
          </a:p>
          <a:p>
            <a:pPr algn="ctr"/>
            <a:r>
              <a:rPr lang="en-US" sz="1200" dirty="0"/>
              <a:t>from Caspian</a:t>
            </a:r>
            <a:endParaRPr lang="en-IN" sz="1200" dirty="0"/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CC7BC497-AFF1-416D-4FEB-6A80DCE7B2A1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7232683" y="882416"/>
            <a:ext cx="495351" cy="495351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2151819B-5C63-C37F-3D88-1BBCFCFB9300}"/>
              </a:ext>
            </a:extLst>
          </p:cNvPr>
          <p:cNvSpPr txBox="1"/>
          <p:nvPr/>
        </p:nvSpPr>
        <p:spPr>
          <a:xfrm>
            <a:off x="7031605" y="1417022"/>
            <a:ext cx="919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Read </a:t>
            </a:r>
          </a:p>
          <a:p>
            <a:pPr algn="ctr"/>
            <a:r>
              <a:rPr lang="en-US" sz="1200" dirty="0"/>
              <a:t>Notification</a:t>
            </a:r>
            <a:endParaRPr lang="en-IN" sz="1200" dirty="0"/>
          </a:p>
          <a:p>
            <a:pPr algn="ctr"/>
            <a:endParaRPr lang="en-IN" sz="1200" dirty="0"/>
          </a:p>
        </p:txBody>
      </p:sp>
      <p:pic>
        <p:nvPicPr>
          <p:cNvPr id="1031" name="Graphic 1030" descr="Hybrid NFS linked datasets resource icon for the Amazon File Cache service.">
            <a:extLst>
              <a:ext uri="{FF2B5EF4-FFF2-40B4-BE49-F238E27FC236}">
                <a16:creationId xmlns:a16="http://schemas.microsoft.com/office/drawing/2014/main" id="{B4E825AE-1BDB-4B63-FE25-D60B95A9E28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091366" y="904770"/>
            <a:ext cx="457200" cy="457200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AC075239-5170-4B7C-8FFF-033B27989FAB}"/>
              </a:ext>
            </a:extLst>
          </p:cNvPr>
          <p:cNvSpPr txBox="1"/>
          <p:nvPr/>
        </p:nvSpPr>
        <p:spPr>
          <a:xfrm>
            <a:off x="8890360" y="1377767"/>
            <a:ext cx="981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Caspian data</a:t>
            </a:r>
          </a:p>
          <a:p>
            <a:pPr algn="ctr"/>
            <a:r>
              <a:rPr lang="en-US" sz="1200" dirty="0"/>
              <a:t>to Ingress</a:t>
            </a:r>
            <a:endParaRPr lang="en-IN" sz="1200" dirty="0"/>
          </a:p>
        </p:txBody>
      </p: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FB18D386-373A-2764-AE9C-BDE60F4BF385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633651" y="1299849"/>
            <a:ext cx="397954" cy="12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38" name="Graphic 8" descr="Amazon Simple Storage Service (Amazon S3) service icon.">
            <a:extLst>
              <a:ext uri="{FF2B5EF4-FFF2-40B4-BE49-F238E27FC236}">
                <a16:creationId xmlns:a16="http://schemas.microsoft.com/office/drawing/2014/main" id="{C194957A-1C94-12D4-AE61-14A4A6C0D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9986585" y="877324"/>
            <a:ext cx="450168" cy="460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9" name="TextBox 1038">
            <a:extLst>
              <a:ext uri="{FF2B5EF4-FFF2-40B4-BE49-F238E27FC236}">
                <a16:creationId xmlns:a16="http://schemas.microsoft.com/office/drawing/2014/main" id="{ADBB1D6D-3542-08AF-DBDC-C2587B54BD91}"/>
              </a:ext>
            </a:extLst>
          </p:cNvPr>
          <p:cNvSpPr txBox="1"/>
          <p:nvPr/>
        </p:nvSpPr>
        <p:spPr>
          <a:xfrm>
            <a:off x="9922009" y="1343118"/>
            <a:ext cx="660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Ingress </a:t>
            </a:r>
          </a:p>
          <a:p>
            <a:pPr algn="ctr"/>
            <a:r>
              <a:rPr lang="en-US" sz="1200" dirty="0"/>
              <a:t>Bucket</a:t>
            </a:r>
            <a:endParaRPr lang="en-IN" sz="1200" dirty="0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66AFCCDA-86C8-D3B3-06F8-C119DAA0EB2A}"/>
              </a:ext>
            </a:extLst>
          </p:cNvPr>
          <p:cNvSpPr/>
          <p:nvPr/>
        </p:nvSpPr>
        <p:spPr>
          <a:xfrm>
            <a:off x="11728027" y="686405"/>
            <a:ext cx="569109" cy="12516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41" name="Picture 1040">
            <a:extLst>
              <a:ext uri="{FF2B5EF4-FFF2-40B4-BE49-F238E27FC236}">
                <a16:creationId xmlns:a16="http://schemas.microsoft.com/office/drawing/2014/main" id="{12975EAE-2D7F-8AC2-99F4-6BC49EC1D7C6}"/>
              </a:ext>
            </a:extLst>
          </p:cNvPr>
          <p:cNvPicPr>
            <a:picLocks noChangeAspect="1"/>
          </p:cNvPicPr>
          <p:nvPr/>
        </p:nvPicPr>
        <p:blipFill>
          <a:blip r:embed="rId3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864231" y="862684"/>
            <a:ext cx="450947" cy="427868"/>
          </a:xfrm>
          <a:prstGeom prst="rect">
            <a:avLst/>
          </a:prstGeom>
        </p:spPr>
      </p:pic>
      <p:sp>
        <p:nvSpPr>
          <p:cNvPr id="1045" name="TextBox 1044">
            <a:extLst>
              <a:ext uri="{FF2B5EF4-FFF2-40B4-BE49-F238E27FC236}">
                <a16:creationId xmlns:a16="http://schemas.microsoft.com/office/drawing/2014/main" id="{7CA3CAAD-15D4-D794-C3DF-4E0F01925424}"/>
              </a:ext>
            </a:extLst>
          </p:cNvPr>
          <p:cNvSpPr txBox="1"/>
          <p:nvPr/>
        </p:nvSpPr>
        <p:spPr>
          <a:xfrm>
            <a:off x="10705945" y="1361970"/>
            <a:ext cx="816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Databrick</a:t>
            </a:r>
          </a:p>
          <a:p>
            <a:pPr algn="ctr"/>
            <a:r>
              <a:rPr lang="en-US" sz="1200" dirty="0"/>
              <a:t>Job Tigger</a:t>
            </a:r>
            <a:endParaRPr lang="en-IN" sz="1200" dirty="0"/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D44F3247-AA28-337B-9CF7-2F199766255E}"/>
              </a:ext>
            </a:extLst>
          </p:cNvPr>
          <p:cNvSpPr txBox="1"/>
          <p:nvPr/>
        </p:nvSpPr>
        <p:spPr>
          <a:xfrm rot="161172">
            <a:off x="11703294" y="1336381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CDM </a:t>
            </a:r>
          </a:p>
          <a:p>
            <a:pPr algn="ctr"/>
            <a:r>
              <a:rPr lang="en-US" sz="1000" dirty="0"/>
              <a:t>AIRFLOW</a:t>
            </a:r>
            <a:endParaRPr lang="en-IN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8B91853-23BA-6AE5-CCE5-E541E7C13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7947" y="919350"/>
            <a:ext cx="400432" cy="400432"/>
          </a:xfrm>
          <a:prstGeom prst="rect">
            <a:avLst/>
          </a:prstGeom>
        </p:spPr>
      </p:pic>
      <p:sp>
        <p:nvSpPr>
          <p:cNvPr id="1063" name="Rectangle 1062">
            <a:extLst>
              <a:ext uri="{FF2B5EF4-FFF2-40B4-BE49-F238E27FC236}">
                <a16:creationId xmlns:a16="http://schemas.microsoft.com/office/drawing/2014/main" id="{B52D8465-7633-F04B-80D3-536F432E9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87618" y="2256199"/>
            <a:ext cx="6409517" cy="3743865"/>
          </a:xfrm>
          <a:prstGeom prst="rect">
            <a:avLst/>
          </a:prstGeom>
          <a:noFill/>
          <a:ln w="15875">
            <a:solidFill>
              <a:srgbClr val="1D4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65" name="Picture 1064">
            <a:extLst>
              <a:ext uri="{FF2B5EF4-FFF2-40B4-BE49-F238E27FC236}">
                <a16:creationId xmlns:a16="http://schemas.microsoft.com/office/drawing/2014/main" id="{75D53E3A-10F7-7AB6-2A28-8DE6263324A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921281" y="2259723"/>
            <a:ext cx="529310" cy="45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5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475</TotalTime>
  <Words>63</Words>
  <Application>Microsoft Office PowerPoint</Application>
  <PresentationFormat>Custom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shinde</dc:creator>
  <cp:lastModifiedBy>nikhil shinde</cp:lastModifiedBy>
  <cp:revision>6</cp:revision>
  <dcterms:created xsi:type="dcterms:W3CDTF">2025-12-17T17:57:20Z</dcterms:created>
  <dcterms:modified xsi:type="dcterms:W3CDTF">2025-12-18T11:41:02Z</dcterms:modified>
</cp:coreProperties>
</file>