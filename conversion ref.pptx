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44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Box 6"/>
          <p:cNvSpPr txBox="1"/>
          <p:nvPr/>
        </p:nvSpPr>
        <p:spPr>
          <a:xfrm>
            <a:off x="876300" y="2755900"/>
            <a:ext cx="7239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00" b="1">
                <a:solidFill>
                  <a:srgbClr val="2D1F93"/>
                </a:solidFill>
                <a:latin typeface="Agbalumo"/>
              </a:rPr>
              <a:t>Informatica to PySpark Migration Strategy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4559300"/>
            <a:ext cx="7239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Large-scale ETL modernization for 1200 PowerCenter workflows to PySpark on modern platforms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5600700"/>
            <a:ext cx="7239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Enterprise Architecture &amp; Data Engineering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76300" y="60706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ETL Modernization Initiative 2025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4140200"/>
            <a:ext cx="144907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4140200"/>
            <a:ext cx="144907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4140200"/>
            <a:ext cx="558800" cy="5588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7" name="TextBox 7"/>
          <p:cNvSpPr txBox="1"/>
          <p:nvPr/>
        </p:nvSpPr>
        <p:spPr>
          <a:xfrm>
            <a:off x="876300" y="2209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D1F93"/>
                </a:solidFill>
                <a:latin typeface="Agbalumo"/>
              </a:rPr>
              <a:t>The ETL Modernization Challenge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079500" y="42418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76300" y="30988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Enterprises face significant technical debt with thousands of XML-based ETL jobs requiring modernization. Manual rewriting is slow and error-prone, introducing risks of logic loss and data integrity issues.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943100" y="4241800"/>
            <a:ext cx="13411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1200+ Informatica PowerCenter workflows spanning simple to very complex logic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943100" y="4813300"/>
            <a:ext cx="13411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Years of technical debt locked in XML-based ETL jobs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943100" y="5384800"/>
            <a:ext cx="13411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Manual conversion is time-consuming and error-prone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943100" y="5969000"/>
            <a:ext cx="13411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Risk of silent errors and incomplete transformations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943100" y="6540500"/>
            <a:ext cx="13411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Need for data integrity validation and reconciliation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574800" y="4305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574800" y="4876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574800" y="5448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574800" y="6032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574800" y="6604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1866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D1F93"/>
                </a:solidFill>
                <a:latin typeface="Agbalumo"/>
              </a:rPr>
              <a:t>Migration Approaches Overview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30607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Automated Tools &amp; Accelerators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432800" y="30607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Custom Conversion Framework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130300" y="38100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Faster time-to-value with pre-built conversion rules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30300" y="43815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Reduced manual effort and human error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30300" y="49657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Built-in reconciliation and validation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30300" y="5537200"/>
            <a:ext cx="6667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Vendor-specific optimization (Databricks ecosystem)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686800" y="38100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Full control over conversion logic and rules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686800" y="43815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No vendor lock-in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686800" y="49657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Tailored to specific Informatica patterns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686800" y="55372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Requires significant development investment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68834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2ECC71"/>
                </a:solidFill>
                <a:latin typeface="Poppins"/>
              </a:rPr>
              <a:t>Optimal Strategy: Hybrid approach combining automated tools with specialized teams.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49300" y="3873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49300" y="445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49300" y="5029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49300" y="5600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305800" y="3873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305800" y="445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05800" y="5029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05800" y="5600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997200"/>
            <a:ext cx="14490700" cy="410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3746500"/>
            <a:ext cx="4699000" cy="334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746500"/>
            <a:ext cx="4699000" cy="3340100"/>
          </a:xfrm>
          <a:prstGeom prst="roundRect">
            <a:avLst>
              <a:gd name="adj" fmla="val 2281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3746500"/>
            <a:ext cx="4699000" cy="2413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8" name="AutoShape 8"/>
          <p:cNvSpPr/>
          <p:nvPr/>
        </p:nvSpPr>
        <p:spPr>
          <a:xfrm>
            <a:off x="5765800" y="3378200"/>
            <a:ext cx="4699000" cy="3721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5765800" y="3378200"/>
            <a:ext cx="4699000" cy="3721100"/>
          </a:xfrm>
          <a:prstGeom prst="roundRect">
            <a:avLst>
              <a:gd name="adj" fmla="val 204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5765800" y="3378200"/>
            <a:ext cx="4699000" cy="2413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1" name="AutoShape 11"/>
          <p:cNvSpPr/>
          <p:nvPr/>
        </p:nvSpPr>
        <p:spPr>
          <a:xfrm>
            <a:off x="10668000" y="2997200"/>
            <a:ext cx="4699000" cy="410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0668000" y="2997200"/>
            <a:ext cx="4699000" cy="4102100"/>
          </a:xfrm>
          <a:prstGeom prst="roundRect">
            <a:avLst>
              <a:gd name="adj" fmla="val 185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10668000" y="2997200"/>
            <a:ext cx="4699000" cy="2413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13716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D1F93"/>
                </a:solidFill>
                <a:latin typeface="Agbalumo"/>
              </a:rPr>
              <a:t>Databricks Lakebridge Solution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22606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Open-Source Toolkit for Automated Informatica Conversion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4254500"/>
            <a:ext cx="419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Phase 1 "Analyzer"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19800" y="3873500"/>
            <a:ext cx="419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Phase 2 "Transpiler (BladeBridge)"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909300" y="3492500"/>
            <a:ext cx="4191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Phase 3 "Reconciler"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4889500"/>
            <a:ext cx="419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Inventories all Informatica mappings, extracts transformation definitions, and identifies complexity.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019800" y="4965700"/>
            <a:ext cx="419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Reads each XML, generates equivalent Databricks code, applies built-in transformation rules, and produces PySpark notebooks or SQL.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09300" y="4127500"/>
            <a:ext cx="4191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Validates source vs target data, ensures functional equivalence, and verifies transformation integrity.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76300" y="73787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Key metrics: Handles 80-95% of patterns automatically, preserves one-to-one functional equivalence.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2933700"/>
            <a:ext cx="9283700" cy="5334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2933700"/>
            <a:ext cx="2882900" cy="386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6083300" y="2933700"/>
            <a:ext cx="558800" cy="5588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8" name="AutoShape 8"/>
          <p:cNvSpPr/>
          <p:nvPr/>
        </p:nvSpPr>
        <p:spPr>
          <a:xfrm>
            <a:off x="9283700" y="2933700"/>
            <a:ext cx="2882900" cy="386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9283700" y="2933700"/>
            <a:ext cx="558800" cy="5588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0" name="AutoShape 10"/>
          <p:cNvSpPr/>
          <p:nvPr/>
        </p:nvSpPr>
        <p:spPr>
          <a:xfrm>
            <a:off x="12484100" y="2933700"/>
            <a:ext cx="2882900" cy="386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AutoShape 11"/>
          <p:cNvSpPr/>
          <p:nvPr/>
        </p:nvSpPr>
        <p:spPr>
          <a:xfrm>
            <a:off x="12484100" y="2933700"/>
            <a:ext cx="558800" cy="5588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2" name="AutoShape 12"/>
          <p:cNvSpPr/>
          <p:nvPr/>
        </p:nvSpPr>
        <p:spPr>
          <a:xfrm>
            <a:off x="6083300" y="7429500"/>
            <a:ext cx="9283700" cy="838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6083300" y="7429500"/>
            <a:ext cx="558800" cy="5588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8509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D1F93"/>
                </a:solidFill>
                <a:latin typeface="Agbalumo"/>
              </a:rPr>
              <a:t>Partner &amp; Commercial Accelerators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083300" y="1739900"/>
            <a:ext cx="92837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AI-Driven Solutions from Leading Consulting Partners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286500" y="30353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1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474200" y="30353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2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2687300" y="30353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3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273800" y="7531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4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896100" y="3022600"/>
            <a:ext cx="2057400" cy="377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Infosys DE.AI Platform - Auto Migrator converts Informatica XML to Databricks pipelines via natural-language prompts.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096500" y="3022600"/>
            <a:ext cx="2057400" cy="377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Persistent Systems iAURA Engine - Automatically parses legacy ETL, generates Databricks-native pipelines in PySpark, SQL, or DLT.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3296900" y="3022600"/>
            <a:ext cx="20574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Tiger Analytics IDX Tool - Uses generative AI to transpile legacy SQL/ETL to optimized PySpark/Spark-SQL.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896100" y="7518400"/>
            <a:ext cx="8458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TCS, Cognizant, Others - Similar accelerators with dependency mapping and data reconciliation.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22400"/>
            <a:ext cx="14490700" cy="7073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451100"/>
            <a:ext cx="3479800" cy="6045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2451100"/>
            <a:ext cx="3479800" cy="6045200"/>
          </a:xfrm>
          <a:prstGeom prst="roundRect">
            <a:avLst>
              <a:gd name="adj" fmla="val 218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2451100"/>
            <a:ext cx="3479800" cy="2159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8" name="AutoShape 8"/>
          <p:cNvSpPr/>
          <p:nvPr/>
        </p:nvSpPr>
        <p:spPr>
          <a:xfrm>
            <a:off x="4546600" y="2108200"/>
            <a:ext cx="3479800" cy="6388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4546600" y="2108200"/>
            <a:ext cx="3479800" cy="6388100"/>
          </a:xfrm>
          <a:prstGeom prst="roundRect">
            <a:avLst>
              <a:gd name="adj" fmla="val 218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4546600" y="2108200"/>
            <a:ext cx="3479800" cy="2159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1" name="AutoShape 11"/>
          <p:cNvSpPr/>
          <p:nvPr/>
        </p:nvSpPr>
        <p:spPr>
          <a:xfrm>
            <a:off x="8216900" y="1765300"/>
            <a:ext cx="3479800" cy="673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8216900" y="1765300"/>
            <a:ext cx="3479800" cy="6731000"/>
          </a:xfrm>
          <a:prstGeom prst="roundRect">
            <a:avLst>
              <a:gd name="adj" fmla="val 218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8216900" y="1765300"/>
            <a:ext cx="3479800" cy="2159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4" name="AutoShape 14"/>
          <p:cNvSpPr/>
          <p:nvPr/>
        </p:nvSpPr>
        <p:spPr>
          <a:xfrm>
            <a:off x="11887200" y="1422400"/>
            <a:ext cx="3479800" cy="7073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AutoShape 15"/>
          <p:cNvSpPr/>
          <p:nvPr/>
        </p:nvSpPr>
        <p:spPr>
          <a:xfrm>
            <a:off x="11887200" y="1422400"/>
            <a:ext cx="3479800" cy="7073900"/>
          </a:xfrm>
          <a:prstGeom prst="roundRect">
            <a:avLst>
              <a:gd name="adj" fmla="val 218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6" name="AutoShape 16"/>
          <p:cNvSpPr/>
          <p:nvPr/>
        </p:nvSpPr>
        <p:spPr>
          <a:xfrm>
            <a:off x="11887200" y="1422400"/>
            <a:ext cx="3479800" cy="215900"/>
          </a:xfrm>
          <a:prstGeom prst="rect">
            <a:avLst/>
          </a:prstGeom>
          <a:solidFill>
            <a:srgbClr val="D2D0D7"/>
          </a:solidFill>
        </p:spPr>
      </p:sp>
      <p:sp>
        <p:nvSpPr>
          <p:cNvPr id="17" name="TextBox 17"/>
          <p:cNvSpPr txBox="1"/>
          <p:nvPr/>
        </p:nvSpPr>
        <p:spPr>
          <a:xfrm>
            <a:off x="876300" y="622300"/>
            <a:ext cx="14490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00" b="1">
                <a:solidFill>
                  <a:srgbClr val="2D1F93"/>
                </a:solidFill>
                <a:latin typeface="Agbalumo"/>
              </a:rPr>
              <a:t>Custom Framework Architecture - Four-Phase Approach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2908300"/>
            <a:ext cx="29718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2D1F93"/>
                </a:solidFill>
                <a:latin typeface="Agbalumo"/>
              </a:rPr>
              <a:t>Step 1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800600" y="2565400"/>
            <a:ext cx="29718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2D1F93"/>
                </a:solidFill>
                <a:latin typeface="Agbalumo"/>
              </a:rPr>
              <a:t>Step 2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470900" y="2222500"/>
            <a:ext cx="29718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2D1F93"/>
                </a:solidFill>
                <a:latin typeface="Agbalumo"/>
              </a:rPr>
              <a:t>Step 3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141200" y="1879600"/>
            <a:ext cx="29718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2D1F93"/>
                </a:solidFill>
                <a:latin typeface="Agbalumo"/>
              </a:rPr>
              <a:t>Step 4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30300" y="3479800"/>
            <a:ext cx="2971800" cy="478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XML Parsing &amp; Metadata Extraction - Parse Informatica PowerCenter XML files, extract source/target definitions, identify all transformation components (Expression, Filter, Joiner, Lookup, Aggregator, etc.), maintain comprehensive metadata inventory.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4800600" y="3136900"/>
            <a:ext cx="2971800" cy="375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Transformation Mapping Rules - Map Informatica transforms to PySpark equivalents using a rule library, define conversion logic for each component type, maintain configuration for environment-specific settings.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470900" y="2794000"/>
            <a:ext cx="2971800" cy="307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Code Generation - Generate PySpark code/notebooks for each workflow, use templating engine (e.g., Jinja), output readable, commented code with proper structure.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141200" y="2451100"/>
            <a:ext cx="2971800" cy="307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Validation &amp; Reconciliation - Reconcile logic equivalence, perform data integrity checks (row counts, checksums), test against original Informatica outputs.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1844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184400"/>
            <a:ext cx="14490700" cy="18796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4254500"/>
            <a:ext cx="14490700" cy="3568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4254500"/>
            <a:ext cx="4660900" cy="35687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2832100" y="4508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3AC4"/>
          </a:solidFill>
        </p:spPr>
      </p:sp>
      <p:sp>
        <p:nvSpPr>
          <p:cNvPr id="9" name="AutoShape 9"/>
          <p:cNvSpPr/>
          <p:nvPr/>
        </p:nvSpPr>
        <p:spPr>
          <a:xfrm>
            <a:off x="5791200" y="4254500"/>
            <a:ext cx="4660900" cy="35687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7747000" y="4508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3AC4"/>
          </a:solidFill>
        </p:spPr>
      </p:sp>
      <p:sp>
        <p:nvSpPr>
          <p:cNvPr id="11" name="AutoShape 11"/>
          <p:cNvSpPr/>
          <p:nvPr/>
        </p:nvSpPr>
        <p:spPr>
          <a:xfrm>
            <a:off x="10706100" y="4254500"/>
            <a:ext cx="4660900" cy="35687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2661900" y="4508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3AC4"/>
          </a:solidFill>
        </p:spPr>
      </p:sp>
      <p:sp>
        <p:nvSpPr>
          <p:cNvPr id="13" name="TextBox 13"/>
          <p:cNvSpPr txBox="1"/>
          <p:nvPr/>
        </p:nvSpPr>
        <p:spPr>
          <a:xfrm>
            <a:off x="876300" y="1295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D1F93"/>
                </a:solidFill>
                <a:latin typeface="Agbalumo"/>
              </a:rPr>
              <a:t>Key Transformation Mappings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24384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D1F93"/>
                </a:solidFill>
                <a:latin typeface="Agbalumo"/>
              </a:rPr>
              <a:t>Component-by-Component Conversion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55118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Source to DataFrame Load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55118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Filtering &amp; Routing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55118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Joins &amp; Lookups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30734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Direct mapping ensures one-to-one functional equivalence between Informatica transforms and PySpark operations, maintaining original logic and data flow.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6070600"/>
            <a:ext cx="4152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Source Qualifier → spark.read (JDBC, CSV, Parquet) with push-down SQL filters applied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045200" y="60706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Filter/Router → .filter() or .where() for conditional row selection across multiple outputs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60100" y="60706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Joiner/Lookup → .join() with broadcast() for dimension tables, supporting inner/left/right/full joins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3098800" y="4762500"/>
            <a:ext cx="2159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0" y="4762500"/>
            <a:ext cx="241300" cy="241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t="11000" b="11000"/>
          <a:stretch>
            <a:fillRect/>
          </a:stretch>
        </p:blipFill>
        <p:spPr>
          <a:xfrm>
            <a:off x="12877800" y="47625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58900"/>
            <a:ext cx="14490700" cy="7175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358900"/>
            <a:ext cx="14490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2616200"/>
            <a:ext cx="14490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3886200"/>
            <a:ext cx="14490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876300" y="5143500"/>
            <a:ext cx="14490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876300" y="6400800"/>
            <a:ext cx="14490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76300" y="7670800"/>
            <a:ext cx="14490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TextBox 11"/>
          <p:cNvSpPr txBox="1"/>
          <p:nvPr/>
        </p:nvSpPr>
        <p:spPr>
          <a:xfrm>
            <a:off x="876300" y="596900"/>
            <a:ext cx="14490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>
                <a:solidFill>
                  <a:srgbClr val="2D1F93"/>
                </a:solidFill>
                <a:latin typeface="Agbalumo"/>
              </a:rPr>
              <a:t>Key Transformation Mappings - Extended Examples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76300" y="13589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2D1F93"/>
                </a:solidFill>
                <a:latin typeface="Agbalumo"/>
              </a:rPr>
              <a:t>Expression/Calculator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76300" y="26162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2D1F93"/>
                </a:solidFill>
                <a:latin typeface="Agbalumo"/>
              </a:rPr>
              <a:t>Aggregator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38862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2D1F93"/>
                </a:solidFill>
                <a:latin typeface="Agbalumo"/>
              </a:rPr>
              <a:t>Sorter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51435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2D1F93"/>
                </a:solidFill>
                <a:latin typeface="Agbalumo"/>
              </a:rPr>
              <a:t>Normalizer/Unnormalizer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" y="64008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2D1F93"/>
                </a:solidFill>
                <a:latin typeface="Agbalumo"/>
              </a:rPr>
              <a:t>Update Strategy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76708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2D1F93"/>
                </a:solidFill>
                <a:latin typeface="Agbalumo"/>
              </a:rPr>
              <a:t>Variables &amp; Parameters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19050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Use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df.withColumn()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with Spark SQL functions;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DECODE/IIF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→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when().otherwise()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,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REPLACECHR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→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regexp_replace()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" y="31623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monospace"/>
              </a:rPr>
              <a:t>df.groupBy().agg()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with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SUM, AVG, COUNT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mapping directly to Spark functions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76300" y="44323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monospace"/>
              </a:rPr>
              <a:t>df.orderBy(sort_cols)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supporting ascending/descending specifications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76300" y="56896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monospace"/>
              </a:rPr>
              <a:t>pivot()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and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unpivot()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via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stack()/explode()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for row/column transformations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76300" y="69469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Write all data (overwrite) or use Delta Lake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merge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for inserts/updates/deletes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76300" y="82169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Read from config files or Databricks </a:t>
            </a:r>
            <a:r>
              <a:rPr lang="en-US" sz="1600" b="1">
                <a:solidFill>
                  <a:srgbClr val="000000"/>
                </a:solidFill>
                <a:latin typeface="monospace"/>
              </a:rPr>
              <a:t>widgets</a:t>
            </a:r>
            <a:r>
              <a:rPr lang="en-US" sz="1700" b="1">
                <a:solidFill>
                  <a:srgbClr val="000000"/>
                </a:solidFill>
                <a:latin typeface="Poppins"/>
              </a:rPr>
              <a:t> instead of Informatica parameter files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6858000"/>
            <a:ext cx="12700" cy="368300"/>
          </a:xfrm>
          <a:prstGeom prst="rect">
            <a:avLst/>
          </a:prstGeom>
          <a:solidFill>
            <a:srgbClr val="2D1F93"/>
          </a:solidFill>
        </p:spPr>
      </p:sp>
      <p:sp>
        <p:nvSpPr>
          <p:cNvPr id="5" name="TextBox 5"/>
          <p:cNvSpPr txBox="1"/>
          <p:nvPr/>
        </p:nvSpPr>
        <p:spPr>
          <a:xfrm>
            <a:off x="876300" y="1612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D1F93"/>
                </a:solidFill>
                <a:latin typeface="Agbalumo"/>
              </a:rPr>
              <a:t>Migration Challenges &amp; Risks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76300" y="2806700"/>
            <a:ext cx="3149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856404"/>
                </a:solidFill>
                <a:latin typeface="Agbalumo"/>
              </a:rPr>
              <a:t>Complex Nested Logic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660900" y="2806700"/>
            <a:ext cx="31496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721C24"/>
                </a:solidFill>
                <a:latin typeface="Agbalumo"/>
              </a:rPr>
              <a:t>Manual Overrides Required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432800" y="2806700"/>
            <a:ext cx="3149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721C24"/>
                </a:solidFill>
                <a:latin typeface="Agbalumo"/>
              </a:rPr>
              <a:t>Data Integrity Validation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2217400" y="2806700"/>
            <a:ext cx="3149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856404"/>
                </a:solidFill>
                <a:latin typeface="Agbalumo"/>
              </a:rPr>
              <a:t>Functional Equivalence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4000500"/>
            <a:ext cx="31496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Deeply embedded SQL, conditional branching, and stored procedure calls require manual intervention or advanced parsing.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660900" y="4457700"/>
            <a:ext cx="31496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Approximately 5-20% of complex mappings may need custom code or human review.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432800" y="4000500"/>
            <a:ext cx="31496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Risk of silent errors if reconciliation is incomplete; must validate all data transformations against originals.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2217400" y="4000500"/>
            <a:ext cx="31496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Ensuring expressions, dates, and edge cases match exactly between Informatica and Spark requires rigorous testing.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68580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Mitigation: Combine automated tools with specialized teams for comprehensive coverage.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295400"/>
            <a:ext cx="14490700" cy="7264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295400"/>
            <a:ext cx="3429000" cy="46736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938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513AC4"/>
          </a:solidFill>
        </p:spPr>
      </p:sp>
      <p:sp>
        <p:nvSpPr>
          <p:cNvPr id="7" name="AutoShape 7"/>
          <p:cNvSpPr/>
          <p:nvPr/>
        </p:nvSpPr>
        <p:spPr>
          <a:xfrm>
            <a:off x="4559300" y="1295400"/>
            <a:ext cx="3429000" cy="46736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8768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513AC4"/>
          </a:solidFill>
        </p:spPr>
      </p:sp>
      <p:sp>
        <p:nvSpPr>
          <p:cNvPr id="9" name="AutoShape 9"/>
          <p:cNvSpPr/>
          <p:nvPr/>
        </p:nvSpPr>
        <p:spPr>
          <a:xfrm>
            <a:off x="8242300" y="1295400"/>
            <a:ext cx="3429000" cy="46736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5725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513AC4"/>
          </a:solidFill>
        </p:spPr>
      </p:sp>
      <p:sp>
        <p:nvSpPr>
          <p:cNvPr id="11" name="AutoShape 11"/>
          <p:cNvSpPr/>
          <p:nvPr/>
        </p:nvSpPr>
        <p:spPr>
          <a:xfrm>
            <a:off x="11938000" y="1295400"/>
            <a:ext cx="3429000" cy="46736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22555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513AC4"/>
          </a:solidFill>
        </p:spPr>
      </p:sp>
      <p:sp>
        <p:nvSpPr>
          <p:cNvPr id="13" name="AutoShape 13"/>
          <p:cNvSpPr/>
          <p:nvPr/>
        </p:nvSpPr>
        <p:spPr>
          <a:xfrm>
            <a:off x="876300" y="6184900"/>
            <a:ext cx="14490700" cy="2374900"/>
          </a:xfrm>
          <a:prstGeom prst="rect">
            <a:avLst/>
          </a:prstGeom>
          <a:solidFill>
            <a:srgbClr val="BBB7C6">
              <a:alpha val="37647"/>
            </a:srgbClr>
          </a:solidFill>
        </p:spPr>
      </p:sp>
      <p:sp>
        <p:nvSpPr>
          <p:cNvPr id="14" name="AutoShape 14"/>
          <p:cNvSpPr/>
          <p:nvPr/>
        </p:nvSpPr>
        <p:spPr>
          <a:xfrm>
            <a:off x="1193800" y="6388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513AC4"/>
          </a:solidFill>
        </p:spPr>
      </p:sp>
      <p:sp>
        <p:nvSpPr>
          <p:cNvPr id="15" name="TextBox 15"/>
          <p:cNvSpPr txBox="1"/>
          <p:nvPr/>
        </p:nvSpPr>
        <p:spPr>
          <a:xfrm>
            <a:off x="876300" y="5588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2D1F93"/>
                </a:solidFill>
                <a:latin typeface="Agbalumo"/>
              </a:rPr>
              <a:t>Best Practices for Success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2324100"/>
            <a:ext cx="29210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Automated Inventory Analysis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813300" y="2324100"/>
            <a:ext cx="29210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Iterative Conversion Approach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496300" y="2324100"/>
            <a:ext cx="29210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Robust Reconciliation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2179300" y="2324100"/>
            <a:ext cx="29210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Human Oversight Protocol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7226300"/>
            <a:ext cx="1398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D1F93"/>
                </a:solidFill>
                <a:latin typeface="Agbalumo"/>
              </a:rPr>
              <a:t>Configuration &amp; Reusability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3594100"/>
            <a:ext cx="29210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Scan all 1200 workflows upfront using Analyzer tools to quantify modernization complexity.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813300" y="3594100"/>
            <a:ext cx="29210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Start with simple workflows, progressively move to medium and high complexity; refine rules continuously.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496300" y="3225800"/>
            <a:ext cx="29210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Implement row-count checks, checksum comparisons, and sample data validation for every converted mapping.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2179300" y="3594100"/>
            <a:ext cx="29210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Reserve specialized teams for complex cases (&gt;10% automated coverage limits); perform manual code review for critical paths.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30300" y="7734300"/>
            <a:ext cx="13982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Centralize environment settings (JDBC URLs, file paths) in config files; build reusable helper functions and broadcast logic.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1346200" y="1714500"/>
            <a:ext cx="304800" cy="203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5067300" y="1714500"/>
            <a:ext cx="241300" cy="203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rcRect t="8000" b="8000"/>
          <a:stretch>
            <a:fillRect/>
          </a:stretch>
        </p:blipFill>
        <p:spPr>
          <a:xfrm>
            <a:off x="8750300" y="1714500"/>
            <a:ext cx="241300" cy="203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rcRect t="3000" b="3000"/>
          <a:stretch>
            <a:fillRect/>
          </a:stretch>
        </p:blipFill>
        <p:spPr>
          <a:xfrm>
            <a:off x="12458700" y="1714500"/>
            <a:ext cx="215900" cy="203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rcRect t="17000" b="17000"/>
          <a:stretch>
            <a:fillRect/>
          </a:stretch>
        </p:blipFill>
        <p:spPr>
          <a:xfrm>
            <a:off x="1346200" y="6604000"/>
            <a:ext cx="3048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C20A23-11ED-4D2B-F58B-D5342A64C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43000"/>
            <a:ext cx="14949169" cy="668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9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906</Words>
  <Application>Microsoft Office PowerPoint</Application>
  <PresentationFormat>Custom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Agbalumo</vt:lpstr>
      <vt:lpstr>Arial</vt:lpstr>
      <vt:lpstr>Calibri</vt:lpstr>
      <vt:lpstr>monospace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shinde</cp:lastModifiedBy>
  <cp:revision>2</cp:revision>
  <dcterms:created xsi:type="dcterms:W3CDTF">2006-08-16T00:00:00Z</dcterms:created>
  <dcterms:modified xsi:type="dcterms:W3CDTF">2025-12-15T14:34:46Z</dcterms:modified>
</cp:coreProperties>
</file>